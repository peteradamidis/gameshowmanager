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sldIdLst>
    <p:sldId id="261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57570-660F-FC2A-BAA8-B14592E0046D}" v="17" dt="2025-12-05T00:23:06.1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leen Reynolds" userId="S::kathleen.reynolds@endemolshine.com.au::9211770f-9d8e-454a-8536-b625c2639194" providerId="AD" clId="Web-{38A57570-660F-FC2A-BAA8-B14592E0046D}"/>
    <pc:docChg chg="modSld">
      <pc:chgData name="Kathleen Reynolds" userId="S::kathleen.reynolds@endemolshine.com.au::9211770f-9d8e-454a-8536-b625c2639194" providerId="AD" clId="Web-{38A57570-660F-FC2A-BAA8-B14592E0046D}" dt="2025-12-05T00:23:06.115" v="15" actId="20577"/>
      <pc:docMkLst>
        <pc:docMk/>
      </pc:docMkLst>
      <pc:sldChg chg="modSp">
        <pc:chgData name="Kathleen Reynolds" userId="S::kathleen.reynolds@endemolshine.com.au::9211770f-9d8e-454a-8536-b625c2639194" providerId="AD" clId="Web-{38A57570-660F-FC2A-BAA8-B14592E0046D}" dt="2025-12-05T00:23:06.115" v="15" actId="20577"/>
        <pc:sldMkLst>
          <pc:docMk/>
          <pc:sldMk cId="4102638648" sldId="261"/>
        </pc:sldMkLst>
        <pc:spChg chg="mod">
          <ac:chgData name="Kathleen Reynolds" userId="S::kathleen.reynolds@endemolshine.com.au::9211770f-9d8e-454a-8536-b625c2639194" providerId="AD" clId="Web-{38A57570-660F-FC2A-BAA8-B14592E0046D}" dt="2025-12-05T00:23:06.115" v="15" actId="20577"/>
          <ac:spMkLst>
            <pc:docMk/>
            <pc:sldMk cId="4102638648" sldId="261"/>
            <ac:spMk id="6" creationId="{E4F92823-0808-D6C3-4D75-BD8EF8B500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5C4CA-9C8D-AE4B-993E-0AF694288F9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D99C1E-38FA-8742-9B7C-4F5319CFF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7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80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304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30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203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411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487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92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391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758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7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98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04/12/2025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86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if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C5412F4-2618-5006-6717-B797FD76E226}"/>
              </a:ext>
            </a:extLst>
          </p:cNvPr>
          <p:cNvSpPr/>
          <p:nvPr/>
        </p:nvSpPr>
        <p:spPr>
          <a:xfrm>
            <a:off x="3659675" y="127594"/>
            <a:ext cx="6129693" cy="629563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7">
            <a:extLst>
              <a:ext uri="{FF2B5EF4-FFF2-40B4-BE49-F238E27FC236}">
                <a16:creationId xmlns:a16="http://schemas.microsoft.com/office/drawing/2014/main" id="{52DCF355-A5FB-473D-71FB-5981E677E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011" y="168158"/>
            <a:ext cx="3143200" cy="3143200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ln w="47625">
            <a:solidFill>
              <a:schemeClr val="accent2">
                <a:lumMod val="75000"/>
              </a:schemeClr>
            </a:solidFill>
          </a:ln>
        </p:spPr>
      </p:pic>
      <p:pic>
        <p:nvPicPr>
          <p:cNvPr id="5" name="Content Placeholder 21">
            <a:extLst>
              <a:ext uri="{FF2B5EF4-FFF2-40B4-BE49-F238E27FC236}">
                <a16:creationId xmlns:a16="http://schemas.microsoft.com/office/drawing/2014/main" id="{B04F97FF-66EF-9AD5-1E67-5E0316A4D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1607" y="4128685"/>
            <a:ext cx="1823604" cy="1823604"/>
          </a:xfrm>
          <a:custGeom>
            <a:avLst/>
            <a:gdLst/>
            <a:ahLst/>
            <a:cxnLst/>
            <a:rect l="l" t="t" r="r" b="b"/>
            <a:pathLst>
              <a:path w="2683042" h="2683042">
                <a:moveTo>
                  <a:pt x="102278" y="0"/>
                </a:moveTo>
                <a:lnTo>
                  <a:pt x="2580764" y="0"/>
                </a:lnTo>
                <a:cubicBezTo>
                  <a:pt x="2637251" y="0"/>
                  <a:pt x="2683042" y="45791"/>
                  <a:pt x="2683042" y="102278"/>
                </a:cubicBezTo>
                <a:lnTo>
                  <a:pt x="2683042" y="2580764"/>
                </a:lnTo>
                <a:cubicBezTo>
                  <a:pt x="2683042" y="2637251"/>
                  <a:pt x="2637251" y="2683042"/>
                  <a:pt x="2580764" y="2683042"/>
                </a:cubicBezTo>
                <a:lnTo>
                  <a:pt x="102278" y="2683042"/>
                </a:lnTo>
                <a:cubicBezTo>
                  <a:pt x="45791" y="2683042"/>
                  <a:pt x="0" y="2637251"/>
                  <a:pt x="0" y="2580764"/>
                </a:cubicBezTo>
                <a:lnTo>
                  <a:pt x="0" y="102278"/>
                </a:lnTo>
                <a:cubicBezTo>
                  <a:pt x="0" y="45791"/>
                  <a:pt x="45791" y="0"/>
                  <a:pt x="102278" y="0"/>
                </a:cubicBezTo>
                <a:close/>
              </a:path>
            </a:pathLst>
          </a:custGeom>
          <a:ln w="47625">
            <a:solidFill>
              <a:schemeClr val="accent2">
                <a:lumMod val="75000"/>
              </a:schemeClr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4F92823-0808-D6C3-4D75-BD8EF8B5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675" y="1036358"/>
            <a:ext cx="5983242" cy="904816"/>
          </a:xfrm>
        </p:spPr>
        <p:txBody>
          <a:bodyPr wrap="none" anchor="ctr">
            <a:normAutofit fontScale="90000"/>
          </a:bodyPr>
          <a:lstStyle/>
          <a:p>
            <a:r>
              <a:rPr lang="en-US" sz="3250" dirty="0">
                <a:latin typeface="+mn-lt"/>
              </a:rPr>
              <a:t>AGE (STATE)</a:t>
            </a:r>
            <a:br>
              <a:rPr lang="en-US" sz="1700" dirty="0"/>
            </a:br>
            <a:r>
              <a:rPr lang="en-US" sz="2150" b="1" dirty="0"/>
              <a:t>OCCUPATION</a:t>
            </a:r>
            <a:br>
              <a:rPr lang="en-US" sz="2150" b="1" dirty="0">
                <a:cs typeface="Calibri Light"/>
              </a:rPr>
            </a:br>
            <a:r>
              <a:rPr lang="en-US" sz="2150" b="1" dirty="0">
                <a:solidFill>
                  <a:schemeClr val="accent6"/>
                </a:solidFill>
              </a:rPr>
              <a:t>SPONSOR CATEGORY: X</a:t>
            </a:r>
            <a:endParaRPr lang="en-US" sz="2150" b="1" dirty="0">
              <a:solidFill>
                <a:schemeClr val="accent6"/>
              </a:solidFill>
              <a:cs typeface="Calibri Light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70A258-5F40-27C8-1E9E-659F15C0769D}"/>
              </a:ext>
            </a:extLst>
          </p:cNvPr>
          <p:cNvSpPr txBox="1">
            <a:spLocks/>
          </p:cNvSpPr>
          <p:nvPr/>
        </p:nvSpPr>
        <p:spPr>
          <a:xfrm>
            <a:off x="3533646" y="2007996"/>
            <a:ext cx="6048687" cy="664399"/>
          </a:xfrm>
          <a:prstGeom prst="rect">
            <a:avLst/>
          </a:prstGeom>
        </p:spPr>
        <p:txBody>
          <a:bodyPr vert="horz" lIns="74295" tIns="37148" rIns="74295" bIns="37148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25" b="1" dirty="0">
                <a:solidFill>
                  <a:srgbClr val="C00000"/>
                </a:solidFill>
              </a:rPr>
              <a:t>SHORT TAGLINE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76DC0-751E-F783-8765-55966936CF12}"/>
              </a:ext>
            </a:extLst>
          </p:cNvPr>
          <p:cNvSpPr txBox="1"/>
          <p:nvPr/>
        </p:nvSpPr>
        <p:spPr>
          <a:xfrm>
            <a:off x="3827380" y="2599721"/>
            <a:ext cx="5795319" cy="37548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400" dirty="0">
                <a:latin typeface="Calibri"/>
                <a:ea typeface="Calibri"/>
                <a:cs typeface="Calibri"/>
              </a:rPr>
              <a:t>Energy Level – out of 5 – this helps us when booking players for later in the day </a:t>
            </a:r>
          </a:p>
          <a:p>
            <a:endParaRPr lang="en-AU" sz="1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400" dirty="0">
                <a:latin typeface="Calibri"/>
                <a:ea typeface="Calibri"/>
                <a:cs typeface="Calibri"/>
              </a:rPr>
              <a:t>Top line character points – we don’t need to now if they are "bubbly/energetic/likable" as it doesn’t really help Grant. But if they have traits like – they just don’t stop talking / they argue with their podium partner as they're bossy etc  / infectious or funny laugh. That is stuff we can work with in an episode.</a:t>
            </a:r>
            <a:endParaRPr lang="en-AU" sz="1400" dirty="0">
              <a:ea typeface="Calibri"/>
              <a:cs typeface="Calibri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400" dirty="0">
                <a:latin typeface="Calibri"/>
                <a:ea typeface="Calibri"/>
                <a:cs typeface="Calibri"/>
              </a:rPr>
              <a:t>Meet story (if applicable)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1400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400" dirty="0">
                <a:latin typeface="Calibri"/>
                <a:ea typeface="Calibri"/>
                <a:cs typeface="Calibri"/>
              </a:rPr>
              <a:t>3 key stories/facts/interesting points </a:t>
            </a:r>
            <a:endParaRPr lang="en-AU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400" dirty="0">
                <a:latin typeface="Calibri"/>
                <a:ea typeface="Calibri"/>
                <a:cs typeface="Calibri"/>
              </a:rPr>
              <a:t>How much they want to win -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400" dirty="0">
                <a:latin typeface="Calibri"/>
                <a:ea typeface="Calibri"/>
                <a:cs typeface="Calibri"/>
              </a:rPr>
              <a:t>What they’d do with prize money (high and low)  - </a:t>
            </a:r>
            <a:r>
              <a:rPr lang="en-AU" sz="1400" b="1" dirty="0">
                <a:latin typeface="Calibri"/>
                <a:ea typeface="Calibri"/>
                <a:cs typeface="Calibri"/>
              </a:rPr>
              <a:t> 100K </a:t>
            </a:r>
            <a:r>
              <a:rPr lang="en-AU" sz="1400" dirty="0">
                <a:latin typeface="Calibri"/>
                <a:ea typeface="Calibri"/>
                <a:cs typeface="Calibri"/>
              </a:rPr>
              <a:t> and if they win only</a:t>
            </a:r>
            <a:r>
              <a:rPr lang="en-AU" sz="1400" b="1" dirty="0">
                <a:latin typeface="Calibri"/>
                <a:ea typeface="Calibri"/>
                <a:cs typeface="Calibri"/>
              </a:rPr>
              <a:t> $1000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AU" sz="1400" b="1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400" dirty="0">
                <a:latin typeface="Calibri"/>
                <a:ea typeface="Calibri"/>
                <a:cs typeface="Calibri"/>
              </a:rPr>
              <a:t>How they might play game</a:t>
            </a:r>
            <a:r>
              <a:rPr lang="en-AU" sz="1400" dirty="0"/>
              <a:t> / Risk taker?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AU" sz="1400" i="1" dirty="0">
                <a:solidFill>
                  <a:srgbClr val="FF0000"/>
                </a:solidFill>
                <a:ea typeface="Calibri"/>
                <a:cs typeface="Calibri"/>
              </a:rPr>
              <a:t>Other game shows / prize money won / previously on DOND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6C2E1E-CDF1-B79A-A6DB-A5B9FE8ECC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034" y="128619"/>
            <a:ext cx="1118334" cy="620675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E412E3-9827-E3FA-7E02-C9B7CA91798E}"/>
              </a:ext>
            </a:extLst>
          </p:cNvPr>
          <p:cNvSpPr txBox="1"/>
          <p:nvPr/>
        </p:nvSpPr>
        <p:spPr>
          <a:xfrm>
            <a:off x="593124" y="3687781"/>
            <a:ext cx="234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ATTENDING WITH …</a:t>
            </a:r>
          </a:p>
        </p:txBody>
      </p:sp>
      <p:sp>
        <p:nvSpPr>
          <p:cNvPr id="12" name="Bent Arrow 11">
            <a:extLst>
              <a:ext uri="{FF2B5EF4-FFF2-40B4-BE49-F238E27FC236}">
                <a16:creationId xmlns:a16="http://schemas.microsoft.com/office/drawing/2014/main" id="{A7BB0FBA-3361-D5C1-0A82-80AB8A8AEF11}"/>
              </a:ext>
            </a:extLst>
          </p:cNvPr>
          <p:cNvSpPr/>
          <p:nvPr/>
        </p:nvSpPr>
        <p:spPr>
          <a:xfrm rot="10800000" flipH="1">
            <a:off x="1051098" y="4083302"/>
            <a:ext cx="554506" cy="583505"/>
          </a:xfrm>
          <a:prstGeom prst="bentArrow">
            <a:avLst>
              <a:gd name="adj1" fmla="val 13197"/>
              <a:gd name="adj2" fmla="val 25000"/>
              <a:gd name="adj3" fmla="val 25000"/>
              <a:gd name="adj4" fmla="val 5391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1C9697-520D-A7B6-E31E-4B7A3B2C0A9F}"/>
              </a:ext>
            </a:extLst>
          </p:cNvPr>
          <p:cNvSpPr txBox="1"/>
          <p:nvPr/>
        </p:nvSpPr>
        <p:spPr>
          <a:xfrm>
            <a:off x="185173" y="6081987"/>
            <a:ext cx="3298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NAME (RELATIONSHIP)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2B7CA0-949A-D3B1-4465-00095B16CAD9}"/>
              </a:ext>
            </a:extLst>
          </p:cNvPr>
          <p:cNvSpPr txBox="1"/>
          <p:nvPr/>
        </p:nvSpPr>
        <p:spPr>
          <a:xfrm>
            <a:off x="4189467" y="81119"/>
            <a:ext cx="3591048" cy="132343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4000" b="1" i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Century Gothic"/>
              </a:rPr>
              <a:t>PLAYER NAME</a:t>
            </a:r>
          </a:p>
          <a:p>
            <a:pPr algn="ctr"/>
            <a:endParaRPr lang="en-US" sz="4000" b="1" i="1">
              <a:ln w="12700" cmpd="sng">
                <a:solidFill>
                  <a:srgbClr val="FFC000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latin typeface="Century Gothic" panose="020B0502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C3720D-BBFF-A042-E1D3-D644E5A930C4}"/>
              </a:ext>
            </a:extLst>
          </p:cNvPr>
          <p:cNvSpPr txBox="1"/>
          <p:nvPr/>
        </p:nvSpPr>
        <p:spPr>
          <a:xfrm>
            <a:off x="3856169" y="6355108"/>
            <a:ext cx="3383792" cy="307777"/>
          </a:xfrm>
          <a:prstGeom prst="rect">
            <a:avLst/>
          </a:prstGeom>
          <a:noFill/>
          <a:ln w="15875">
            <a:solidFill>
              <a:schemeClr val="accent2">
                <a:lumMod val="75000"/>
              </a:schemeClr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/>
              <a:t>PRODUCER:       </a:t>
            </a:r>
            <a:r>
              <a:rPr lang="en-US" sz="1400" dirty="0">
                <a:highlight>
                  <a:srgbClr val="FFFF00"/>
                </a:highlight>
              </a:rPr>
              <a:t>INSERT NAME</a:t>
            </a:r>
            <a:endParaRPr lang="en-US" sz="1400" dirty="0">
              <a:ea typeface="Calibri"/>
              <a:cs typeface="Calibri"/>
            </a:endParaRPr>
          </a:p>
        </p:txBody>
      </p:sp>
      <p:pic>
        <p:nvPicPr>
          <p:cNvPr id="3" name="Picture 2" descr="A black and gold text on a yellow background&#10;&#10;Description automatically generated">
            <a:extLst>
              <a:ext uri="{FF2B5EF4-FFF2-40B4-BE49-F238E27FC236}">
                <a16:creationId xmlns:a16="http://schemas.microsoft.com/office/drawing/2014/main" id="{EE4C56C2-3198-BC93-4006-26896E035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8490" y="128619"/>
            <a:ext cx="1103422" cy="6206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02638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6D2265C27E774BB317CED9830AD36F" ma:contentTypeVersion="16" ma:contentTypeDescription="Create a new document." ma:contentTypeScope="" ma:versionID="ef331c7efbb8daf890bad2e2f7a49936">
  <xsd:schema xmlns:xsd="http://www.w3.org/2001/XMLSchema" xmlns:xs="http://www.w3.org/2001/XMLSchema" xmlns:p="http://schemas.microsoft.com/office/2006/metadata/properties" xmlns:ns2="ec1f7bde-5580-4505-95dd-db38ab7e2be2" xmlns:ns3="3dceb67c-50a5-430c-bff5-3e6e4db051e0" targetNamespace="http://schemas.microsoft.com/office/2006/metadata/properties" ma:root="true" ma:fieldsID="ccb0ab10512d5c2ca6639782c5ca14b7" ns2:_="" ns3:_="">
    <xsd:import namespace="ec1f7bde-5580-4505-95dd-db38ab7e2be2"/>
    <xsd:import namespace="3dceb67c-50a5-430c-bff5-3e6e4db051e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1f7bde-5580-4505-95dd-db38ab7e2be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1f0c3d1-8949-4c5a-95d3-9935ee187ba2}" ma:internalName="TaxCatchAll" ma:showField="CatchAllData" ma:web="ec1f7bde-5580-4505-95dd-db38ab7e2b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ceb67c-50a5-430c-bff5-3e6e4db051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67cd00c-72b6-4a33-968c-e97d23dadf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1f7bde-5580-4505-95dd-db38ab7e2be2" xsi:nil="true"/>
    <lcf76f155ced4ddcb4097134ff3c332f xmlns="3dceb67c-50a5-430c-bff5-3e6e4db051e0">
      <Terms xmlns="http://schemas.microsoft.com/office/infopath/2007/PartnerControls"/>
    </lcf76f155ced4ddcb4097134ff3c332f>
    <SharedWithUsers xmlns="ec1f7bde-5580-4505-95dd-db38ab7e2be2">
      <UserInfo>
        <DisplayName>Margaret Bashfield</DisplayName>
        <AccountId>37</AccountId>
        <AccountType/>
      </UserInfo>
      <UserInfo>
        <DisplayName>Neil Singh</DisplayName>
        <AccountId>42</AccountId>
        <AccountType/>
      </UserInfo>
      <UserInfo>
        <DisplayName>Natalie Cattach</DisplayName>
        <AccountId>32</AccountId>
        <AccountType/>
      </UserInfo>
      <UserInfo>
        <DisplayName>Kathleen Reynolds</DisplayName>
        <AccountId>75</AccountId>
        <AccountType/>
      </UserInfo>
    </SharedWithUsers>
    <MediaLengthInSeconds xmlns="3dceb67c-50a5-430c-bff5-3e6e4db051e0" xsi:nil="true"/>
  </documentManagement>
</p:properties>
</file>

<file path=customXml/itemProps1.xml><?xml version="1.0" encoding="utf-8"?>
<ds:datastoreItem xmlns:ds="http://schemas.openxmlformats.org/officeDocument/2006/customXml" ds:itemID="{75C8AF8B-9069-4E70-8D6C-4087051B3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1f7bde-5580-4505-95dd-db38ab7e2be2"/>
    <ds:schemaRef ds:uri="3dceb67c-50a5-430c-bff5-3e6e4db051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6925AD5-F341-4FC4-BBB3-585E8EB1A7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0A489E-66AF-49ED-AE06-79D62969CFB1}">
  <ds:schemaRefs>
    <ds:schemaRef ds:uri="3dceb67c-50a5-430c-bff5-3e6e4db051e0"/>
    <ds:schemaRef ds:uri="ec1f7bde-5580-4505-95dd-db38ab7e2b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A4 Paper (210x297 mm)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AGE (STATE) OCCUPATION SPONSOR CATEGORY: 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79</cp:revision>
  <dcterms:created xsi:type="dcterms:W3CDTF">2023-09-19T23:11:55Z</dcterms:created>
  <dcterms:modified xsi:type="dcterms:W3CDTF">2025-12-05T00:23:08Z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0x0101005E6D2265C27E774BB317CED9830AD36F</vt:lpwstr>
  </property>
  <property fmtid="{D5CDD505-2E9C-101B-9397-08002B2CF9AE}" pid="3" name="MediaServiceImageTags">
    <vt:lpwstr/>
  </property>
  <property fmtid="{D5CDD505-2E9C-101B-9397-08002B2CF9AE}" pid="4" name="Order">
    <vt:lpwstr>332200.000000000</vt:lpwstr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xd_Signature">
    <vt:lpwstr/>
  </property>
</Properties>
</file>